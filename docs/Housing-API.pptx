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8" r:id="rId10"/>
    <p:sldId id="269" r:id="rId11"/>
    <p:sldId id="270" r:id="rId12"/>
    <p:sldId id="261" r:id="rId13"/>
    <p:sldId id="264" r:id="rId14"/>
    <p:sldId id="265" r:id="rId15"/>
    <p:sldId id="266" r:id="rId16"/>
    <p:sldId id="267" r:id="rId17"/>
    <p:sldId id="262" r:id="rId18"/>
    <p:sldId id="263" r:id="rId19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6.png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0" Type="http://schemas.openxmlformats.org/officeDocument/2006/relationships/notesSlide" Target="../notesSlides/notesSlide5.xml"/><Relationship Id="rId2" Type="http://schemas.openxmlformats.org/officeDocument/2006/relationships/tags" Target="../tags/tag2.xml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5.xml"/><Relationship Id="rId17" Type="http://schemas.openxmlformats.org/officeDocument/2006/relationships/tags" Target="../tags/tag14.xml"/><Relationship Id="rId16" Type="http://schemas.openxmlformats.org/officeDocument/2006/relationships/image" Target="../media/image8.png"/><Relationship Id="rId15" Type="http://schemas.openxmlformats.org/officeDocument/2006/relationships/tags" Target="../tags/tag13.xml"/><Relationship Id="rId14" Type="http://schemas.openxmlformats.org/officeDocument/2006/relationships/image" Target="../media/image7.png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tags" Target="../tags/tag1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7" Type="http://schemas.openxmlformats.org/officeDocument/2006/relationships/notesSlide" Target="../notesSlides/notesSlide9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9.png"/><Relationship Id="rId14" Type="http://schemas.openxmlformats.org/officeDocument/2006/relationships/image" Target="../media/image18.png"/><Relationship Id="rId13" Type="http://schemas.openxmlformats.org/officeDocument/2006/relationships/image" Target="../media/image17.png"/><Relationship Id="rId12" Type="http://schemas.openxmlformats.org/officeDocument/2006/relationships/image" Target="../media/image16.png"/><Relationship Id="rId11" Type="http://schemas.openxmlformats.org/officeDocument/2006/relationships/tags" Target="../tags/tag25.xml"/><Relationship Id="rId10" Type="http://schemas.openxmlformats.org/officeDocument/2006/relationships/image" Target="../media/image15.png"/><Relationship Id="rId1" Type="http://schemas.openxmlformats.org/officeDocument/2006/relationships/tags" Target="../tags/tag16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1.png"/><Relationship Id="rId1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34.xml"/><Relationship Id="rId8" Type="http://schemas.openxmlformats.org/officeDocument/2006/relationships/tags" Target="../tags/tag33.xml"/><Relationship Id="rId7" Type="http://schemas.openxmlformats.org/officeDocument/2006/relationships/tags" Target="../tags/tag32.xml"/><Relationship Id="rId6" Type="http://schemas.openxmlformats.org/officeDocument/2006/relationships/tags" Target="../tags/tag31.xml"/><Relationship Id="rId5" Type="http://schemas.openxmlformats.org/officeDocument/2006/relationships/tags" Target="../tags/tag30.xml"/><Relationship Id="rId4" Type="http://schemas.openxmlformats.org/officeDocument/2006/relationships/tags" Target="../tags/tag29.xml"/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4" Type="http://schemas.openxmlformats.org/officeDocument/2006/relationships/notesSlide" Target="../notesSlides/notesSlide14.xml"/><Relationship Id="rId13" Type="http://schemas.openxmlformats.org/officeDocument/2006/relationships/slideLayout" Target="../slideLayouts/slideLayout1.xml"/><Relationship Id="rId12" Type="http://schemas.openxmlformats.org/officeDocument/2006/relationships/image" Target="../media/image26.png"/><Relationship Id="rId11" Type="http://schemas.openxmlformats.org/officeDocument/2006/relationships/image" Target="../media/image25.png"/><Relationship Id="rId10" Type="http://schemas.openxmlformats.org/officeDocument/2006/relationships/image" Target="../media/image24.png"/><Relationship Id="rId1" Type="http://schemas.openxmlformats.org/officeDocument/2006/relationships/tags" Target="../tags/tag2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0500" y="411798"/>
            <a:ext cx="5043488" cy="2400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indent="0" algn="l" fontAlgn="auto">
              <a:lnSpc>
                <a:spcPct val="100000"/>
              </a:lnSpc>
              <a:buNone/>
            </a:pPr>
            <a:r>
              <a:rPr lang="en-US" sz="4990" kern="0" spc="-199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Housing Data API for UK Rental and Sales Analysis</a:t>
            </a:r>
            <a:endParaRPr lang="en-US" sz="499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190500" y="4781550"/>
            <a:ext cx="146367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4" name="Text 2"/>
          <p:cNvSpPr/>
          <p:nvPr/>
        </p:nvSpPr>
        <p:spPr>
          <a:xfrm>
            <a:off x="7831455" y="4886325"/>
            <a:ext cx="112204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5" name="Text 3"/>
          <p:cNvSpPr/>
          <p:nvPr/>
        </p:nvSpPr>
        <p:spPr>
          <a:xfrm>
            <a:off x="190500" y="142875"/>
            <a:ext cx="610425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6" name="Shape 4"/>
          <p:cNvSpPr/>
          <p:nvPr/>
        </p:nvSpPr>
        <p:spPr>
          <a:xfrm rot="5400000">
            <a:off x="6138863" y="1423988"/>
            <a:ext cx="2295525" cy="0"/>
          </a:xfrm>
          <a:prstGeom prst="line">
            <a:avLst/>
          </a:prstGeom>
          <a:noFill/>
          <a:ln w="18097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10800000">
            <a:off x="5991225" y="1414463"/>
            <a:ext cx="2595563" cy="0"/>
          </a:xfrm>
          <a:prstGeom prst="line">
            <a:avLst/>
          </a:prstGeom>
          <a:noFill/>
          <a:ln w="18097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489380">
            <a:off x="6060062" y="1421191"/>
            <a:ext cx="2450141" cy="0"/>
          </a:xfrm>
          <a:prstGeom prst="line">
            <a:avLst/>
          </a:prstGeom>
          <a:noFill/>
          <a:ln w="18097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310621">
            <a:off x="6060062" y="1421191"/>
            <a:ext cx="2450141" cy="0"/>
          </a:xfrm>
          <a:prstGeom prst="line">
            <a:avLst/>
          </a:prstGeom>
          <a:noFill/>
          <a:ln w="18097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0975" y="-6886575"/>
            <a:ext cx="0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65760" y="3001645"/>
            <a:ext cx="5685155" cy="8191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indent="0" algn="l" fontAlgn="auto">
              <a:lnSpc>
                <a:spcPct val="150000"/>
              </a:lnSpc>
              <a:buNone/>
            </a:pPr>
            <a:r>
              <a:rPr lang="en-US" altLang="zh-CN" sz="1570" b="1" dirty="0">
                <a:latin typeface="微软雅黑" panose="020B0503020204020204" charset="-122"/>
                <a:ea typeface="微软雅黑" panose="020B0503020204020204" charset="-122"/>
              </a:rPr>
              <a:t>A RESTful API for UK housing data with lookup, analytics, authentication, and testing support</a:t>
            </a:r>
            <a:endParaRPr lang="en-US" altLang="zh-CN" sz="157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00175" y="1738313"/>
            <a:ext cx="2038350" cy="220503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b="1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UK housing data is spread across multiple sources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b="1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Raw datasets are not easy to query directly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b="1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Users need a clean API for lookup, filtering, and trend analysis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6200" y="685800"/>
            <a:ext cx="3100388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280"/>
              </a:lnSpc>
              <a:buNone/>
            </a:pPr>
            <a:r>
              <a:rPr lang="en-US" sz="1780" b="1" kern="0" spc="-36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Problem and Motivation</a:t>
            </a:r>
            <a:endParaRPr lang="en-US" sz="178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8444698" y="134137"/>
            <a:ext cx="565163" cy="565163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2"/>
          <a:srcRect r="28097" b="28113"/>
          <a:stretch>
            <a:fillRect/>
          </a:stretch>
        </p:blipFill>
        <p:spPr>
          <a:xfrm>
            <a:off x="8358188" y="47625"/>
            <a:ext cx="530779" cy="530663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90500" y="4781550"/>
            <a:ext cx="143065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7" name="Text 3"/>
          <p:cNvSpPr/>
          <p:nvPr/>
        </p:nvSpPr>
        <p:spPr>
          <a:xfrm>
            <a:off x="7742555" y="4886325"/>
            <a:ext cx="121094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8" name="Text 4"/>
          <p:cNvSpPr/>
          <p:nvPr/>
        </p:nvSpPr>
        <p:spPr>
          <a:xfrm>
            <a:off x="190500" y="142875"/>
            <a:ext cx="8877300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9" name="Text 5"/>
          <p:cNvSpPr/>
          <p:nvPr/>
        </p:nvSpPr>
        <p:spPr>
          <a:xfrm>
            <a:off x="5281613" y="1828800"/>
            <a:ext cx="2286000" cy="19288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b="1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Build a RESTful, data-driven API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b="1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Support both official data and user-managed records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b="1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Emphasise good API design, database integration, testing, and documentation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8444698" y="134137"/>
            <a:ext cx="565163" cy="565163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rcRect r="28097" b="28113"/>
          <a:stretch>
            <a:fillRect/>
          </a:stretch>
        </p:blipFill>
        <p:spPr>
          <a:xfrm>
            <a:off x="8358188" y="47625"/>
            <a:ext cx="530779" cy="530663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4791075"/>
            <a:ext cx="207264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5" name="Text 1"/>
          <p:cNvSpPr/>
          <p:nvPr/>
        </p:nvSpPr>
        <p:spPr>
          <a:xfrm>
            <a:off x="6860540" y="4886325"/>
            <a:ext cx="2092960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6" name="Text 2"/>
          <p:cNvSpPr/>
          <p:nvPr/>
        </p:nvSpPr>
        <p:spPr>
          <a:xfrm>
            <a:off x="190500" y="142875"/>
            <a:ext cx="5984240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038725" y="1281113"/>
            <a:ext cx="3319463" cy="245745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90500" y="552450"/>
            <a:ext cx="2747963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280"/>
              </a:lnSpc>
              <a:buNone/>
            </a:pPr>
            <a:r>
              <a:rPr lang="en-US" sz="1780" b="1" kern="0" spc="-36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Data Sources and System Overview</a:t>
            </a:r>
            <a:endParaRPr lang="en-US" sz="178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Text 4"/>
          <p:cNvSpPr/>
          <p:nvPr/>
        </p:nvSpPr>
        <p:spPr>
          <a:xfrm>
            <a:off x="190500" y="1376363"/>
            <a:ext cx="4962525" cy="8286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Reference data: areas, postcode mapping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Official datasets: rent statistics, sales transactions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User data: user-submitted rental/sales records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 5"/>
          <p:cNvSpPr/>
          <p:nvPr/>
        </p:nvSpPr>
        <p:spPr>
          <a:xfrm>
            <a:off x="500063" y="3086100"/>
            <a:ext cx="3914775" cy="8286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Designed as a database-backed REST API with clear separation between data ingestion, service logic, and API routing.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8444698" y="134137"/>
            <a:ext cx="565161" cy="565163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rcRect r="28097" b="28113"/>
          <a:stretch>
            <a:fillRect/>
          </a:stretch>
        </p:blipFill>
        <p:spPr>
          <a:xfrm>
            <a:off x="8358188" y="47625"/>
            <a:ext cx="530777" cy="530663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4791075"/>
            <a:ext cx="197675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5" name="Text 1"/>
          <p:cNvSpPr/>
          <p:nvPr/>
        </p:nvSpPr>
        <p:spPr>
          <a:xfrm>
            <a:off x="7336155" y="4886325"/>
            <a:ext cx="161734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6" name="Text 2"/>
          <p:cNvSpPr/>
          <p:nvPr/>
        </p:nvSpPr>
        <p:spPr>
          <a:xfrm>
            <a:off x="190500" y="142875"/>
            <a:ext cx="631888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52438" y="1209675"/>
            <a:ext cx="4210050" cy="349091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81000" y="600075"/>
            <a:ext cx="455168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280"/>
              </a:lnSpc>
              <a:buNone/>
            </a:pPr>
            <a:r>
              <a:rPr lang="en-US" sz="1780" b="1" kern="0" spc="-36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D</a:t>
            </a:r>
            <a:r>
              <a:rPr lang="en-US" sz="1780" b="1" kern="0" spc="-36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atabase And Architecture Design</a:t>
            </a:r>
            <a:endParaRPr lang="en-US" sz="178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124450" y="809625"/>
            <a:ext cx="3231859" cy="40767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150" y="638175"/>
            <a:ext cx="4738688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780" b="1" kern="0" spc="-36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API Design Highlights</a:t>
            </a:r>
            <a:endParaRPr lang="en-US" sz="178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195580" y="4791075"/>
            <a:ext cx="277685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7231380" y="4886325"/>
            <a:ext cx="1722120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722566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8" name="Text 6"/>
          <p:cNvSpPr/>
          <p:nvPr>
            <p:custDataLst>
              <p:tags r:id="rId1"/>
            </p:custDataLst>
          </p:nvPr>
        </p:nvSpPr>
        <p:spPr>
          <a:xfrm>
            <a:off x="190500" y="1328738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A</a:t>
            </a:r>
            <a:endParaRPr lang="en-US" dirty="0"/>
          </a:p>
        </p:txBody>
      </p:sp>
      <p:sp>
        <p:nvSpPr>
          <p:cNvPr id="9" name="Text 7"/>
          <p:cNvSpPr/>
          <p:nvPr>
            <p:custDataLst>
              <p:tags r:id="rId2"/>
            </p:custDataLst>
          </p:nvPr>
        </p:nvSpPr>
        <p:spPr>
          <a:xfrm>
            <a:off x="3176588" y="1328738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B</a:t>
            </a:r>
            <a:endParaRPr lang="en-US" dirty="0"/>
          </a:p>
        </p:txBody>
      </p:sp>
      <p:sp>
        <p:nvSpPr>
          <p:cNvPr id="10" name="Text 8"/>
          <p:cNvSpPr/>
          <p:nvPr>
            <p:custDataLst>
              <p:tags r:id="rId3"/>
            </p:custDataLst>
          </p:nvPr>
        </p:nvSpPr>
        <p:spPr>
          <a:xfrm>
            <a:off x="6157913" y="1328738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C</a:t>
            </a:r>
            <a:endParaRPr lang="en-US" dirty="0"/>
          </a:p>
        </p:txBody>
      </p:sp>
      <p:sp>
        <p:nvSpPr>
          <p:cNvPr id="11" name="Text 9"/>
          <p:cNvSpPr/>
          <p:nvPr>
            <p:custDataLst>
              <p:tags r:id="rId4"/>
            </p:custDataLst>
          </p:nvPr>
        </p:nvSpPr>
        <p:spPr>
          <a:xfrm>
            <a:off x="885825" y="1481138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Reference Geography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 10"/>
          <p:cNvSpPr/>
          <p:nvPr>
            <p:custDataLst>
              <p:tags r:id="rId5"/>
            </p:custDataLst>
          </p:nvPr>
        </p:nvSpPr>
        <p:spPr>
          <a:xfrm>
            <a:off x="3867150" y="1481138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Official Statistics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 11"/>
          <p:cNvSpPr/>
          <p:nvPr>
            <p:custDataLst>
              <p:tags r:id="rId6"/>
            </p:custDataLst>
          </p:nvPr>
        </p:nvSpPr>
        <p:spPr>
          <a:xfrm>
            <a:off x="6848475" y="1481138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User Records &amp; Auth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 12"/>
          <p:cNvSpPr/>
          <p:nvPr>
            <p:custDataLst>
              <p:tags r:id="rId7"/>
            </p:custDataLst>
          </p:nvPr>
        </p:nvSpPr>
        <p:spPr>
          <a:xfrm>
            <a:off x="190500" y="1985963"/>
            <a:ext cx="2781300" cy="8286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GET /AREAS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GET /AREAS/{AREA_CODE}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GET /POSTCODE_MAP/{POSTCODE}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rcRect/>
          <a:stretch>
            <a:fillRect/>
          </a:stretch>
        </p:blipFill>
        <p:spPr>
          <a:xfrm>
            <a:off x="190500" y="2814638"/>
            <a:ext cx="3057525" cy="1562100"/>
          </a:xfrm>
          <a:prstGeom prst="rect">
            <a:avLst/>
          </a:prstGeom>
        </p:spPr>
      </p:pic>
      <p:sp>
        <p:nvSpPr>
          <p:cNvPr id="16" name="Text 13"/>
          <p:cNvSpPr/>
          <p:nvPr>
            <p:custDataLst>
              <p:tags r:id="rId10"/>
            </p:custDataLst>
          </p:nvPr>
        </p:nvSpPr>
        <p:spPr>
          <a:xfrm>
            <a:off x="204788" y="4386263"/>
            <a:ext cx="2905125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Reference lookup for areas and postcode mapping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 14"/>
          <p:cNvSpPr/>
          <p:nvPr>
            <p:custDataLst>
              <p:tags r:id="rId11"/>
            </p:custDataLst>
          </p:nvPr>
        </p:nvSpPr>
        <p:spPr>
          <a:xfrm>
            <a:off x="6286500" y="1985963"/>
            <a:ext cx="2667000" cy="8286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POST /register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POST /login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Protected CRUD for user records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 15"/>
          <p:cNvSpPr/>
          <p:nvPr>
            <p:custDataLst>
              <p:tags r:id="rId12"/>
            </p:custDataLst>
          </p:nvPr>
        </p:nvSpPr>
        <p:spPr>
          <a:xfrm>
            <a:off x="6243638" y="4467225"/>
            <a:ext cx="2919413" cy="95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715"/>
              </a:lnSpc>
              <a:buNone/>
            </a:pPr>
            <a:r>
              <a:rPr lang="en-US" sz="855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Authenticated operations for user-managed data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9" name="Image 1" descr="preencoded.png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rcRect/>
          <a:stretch>
            <a:fillRect/>
          </a:stretch>
        </p:blipFill>
        <p:spPr>
          <a:xfrm>
            <a:off x="6557963" y="2909888"/>
            <a:ext cx="2124075" cy="1366838"/>
          </a:xfrm>
          <a:prstGeom prst="rect">
            <a:avLst/>
          </a:prstGeom>
        </p:spPr>
      </p:pic>
      <p:pic>
        <p:nvPicPr>
          <p:cNvPr id="20" name="Image 2" descr="preencoded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/>
          <a:srcRect/>
          <a:stretch>
            <a:fillRect/>
          </a:stretch>
        </p:blipFill>
        <p:spPr>
          <a:xfrm>
            <a:off x="3052763" y="2814638"/>
            <a:ext cx="3190875" cy="1585913"/>
          </a:xfrm>
          <a:prstGeom prst="rect">
            <a:avLst/>
          </a:prstGeom>
        </p:spPr>
      </p:pic>
      <p:sp>
        <p:nvSpPr>
          <p:cNvPr id="21" name="Text 16"/>
          <p:cNvSpPr/>
          <p:nvPr>
            <p:custDataLst>
              <p:tags r:id="rId17"/>
            </p:custDataLst>
          </p:nvPr>
        </p:nvSpPr>
        <p:spPr>
          <a:xfrm>
            <a:off x="3086100" y="1985963"/>
            <a:ext cx="3214688" cy="8286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Rent statistics by area and period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Sales transaction queries and summaries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Read-oriented access to official datasets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 17"/>
          <p:cNvSpPr/>
          <p:nvPr>
            <p:custDataLst>
              <p:tags r:id="rId18"/>
            </p:custDataLst>
          </p:nvPr>
        </p:nvSpPr>
        <p:spPr>
          <a:xfrm>
            <a:off x="3057525" y="4629150"/>
            <a:ext cx="3943350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/rent_stats_official/areas/{area_code}/rent-trend.png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150" y="638175"/>
            <a:ext cx="4738688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altLang="zh-CN" sz="1780" b="1" dirty="0">
                <a:latin typeface="微软雅黑" panose="020B0503020204020204" charset="-122"/>
                <a:ea typeface="微软雅黑" panose="020B0503020204020204" charset="-122"/>
              </a:rPr>
              <a:t>Frontend Interface</a:t>
            </a:r>
            <a:endParaRPr lang="en-US" altLang="zh-CN" sz="178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195580" y="4791075"/>
            <a:ext cx="277685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7231380" y="4886325"/>
            <a:ext cx="1722120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722566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23" name="文本框 22"/>
          <p:cNvSpPr txBox="1"/>
          <p:nvPr/>
        </p:nvSpPr>
        <p:spPr>
          <a:xfrm>
            <a:off x="5434965" y="1304290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Key Points</a:t>
            </a:r>
            <a:endParaRPr lang="en-US" altLang="zh-CN"/>
          </a:p>
        </p:txBody>
      </p:sp>
      <p:sp>
        <p:nvSpPr>
          <p:cNvPr id="24" name="文本框 23"/>
          <p:cNvSpPr txBox="1"/>
          <p:nvPr/>
        </p:nvSpPr>
        <p:spPr>
          <a:xfrm>
            <a:off x="5434965" y="1748155"/>
            <a:ext cx="3048000" cy="24612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Lightweight web interface built on top of the same FastAPI backend</a:t>
            </a:r>
            <a:endParaRPr lang="en-US" altLang="zh-CN" sz="1400">
              <a:latin typeface="微软雅黑" panose="020B0503020204020204" charset="-122"/>
              <a:ea typeface="微软雅黑" panose="020B0503020204020204" charset="-12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 sz="1400">
              <a:latin typeface="微软雅黑" panose="020B0503020204020204" charset="-122"/>
              <a:ea typeface="微软雅黑" panose="020B0503020204020204" charset="-12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Supports human-centred exploration beyond raw Swagger/API calls</a:t>
            </a:r>
            <a:endParaRPr lang="en-US" altLang="zh-CN" sz="1400">
              <a:latin typeface="微软雅黑" panose="020B0503020204020204" charset="-122"/>
              <a:ea typeface="微软雅黑" panose="020B0503020204020204" charset="-12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 sz="1400">
              <a:latin typeface="微软雅黑" panose="020B0503020204020204" charset="-122"/>
              <a:ea typeface="微软雅黑" panose="020B0503020204020204" charset="-12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Demonstrates selected workflows such as lookup, analytics, and user interaction</a:t>
            </a:r>
            <a:endParaRPr lang="en-US" altLang="zh-CN" sz="14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488950" y="4506595"/>
            <a:ext cx="474472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>
                <a:latin typeface="微软雅黑" panose="020B0503020204020204" charset="-122"/>
                <a:ea typeface="微软雅黑" panose="020B0503020204020204" charset="-122"/>
              </a:rPr>
              <a:t>Thin client layer: presentation logic separated from backend service logic</a:t>
            </a:r>
            <a:endParaRPr lang="en-US" altLang="zh-CN" sz="100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26" name="图片 25" descr="942513156d0b610a417d7a2212e1f08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8950" y="1106170"/>
            <a:ext cx="4479925" cy="1926590"/>
          </a:xfrm>
          <a:prstGeom prst="rect">
            <a:avLst/>
          </a:prstGeom>
        </p:spPr>
      </p:pic>
      <p:pic>
        <p:nvPicPr>
          <p:cNvPr id="27" name="图片 26" descr="13f735646d665548d155a3e5d784096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950" y="2999105"/>
            <a:ext cx="4522470" cy="138366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150" y="638175"/>
            <a:ext cx="4738688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altLang="zh-CN" sz="1780" b="1" dirty="0">
                <a:latin typeface="微软雅黑" panose="020B0503020204020204" charset="-122"/>
                <a:ea typeface="微软雅黑" panose="020B0503020204020204" charset="-122"/>
              </a:rPr>
              <a:t>MCP Integration</a:t>
            </a:r>
            <a:endParaRPr lang="en-US" altLang="zh-CN" sz="178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195580" y="4791075"/>
            <a:ext cx="277685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7231380" y="4886325"/>
            <a:ext cx="1722120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722566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pic>
        <p:nvPicPr>
          <p:cNvPr id="11" name="图片 10" descr="50ee772fe03165aea4188f736be50cb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86555" y="257810"/>
            <a:ext cx="2453640" cy="1965325"/>
          </a:xfrm>
          <a:prstGeom prst="rect">
            <a:avLst/>
          </a:prstGeom>
        </p:spPr>
      </p:pic>
      <p:pic>
        <p:nvPicPr>
          <p:cNvPr id="12" name="图片 11" descr="55933c359233b494388b47c8a94238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300" y="2223135"/>
            <a:ext cx="4775200" cy="2663190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395" y="-107315"/>
            <a:ext cx="1156970" cy="2456180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640715" y="1677035"/>
            <a:ext cx="3048000" cy="1938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200">
                <a:latin typeface="微软雅黑" panose="020B0503020204020204" charset="-122"/>
                <a:ea typeface="微软雅黑" panose="020B0503020204020204" charset="-122"/>
              </a:rPr>
              <a:t>Exposes selected housing-data capabilities through a tool-oriented interface</a:t>
            </a:r>
            <a:endParaRPr lang="en-US" alt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200">
                <a:latin typeface="微软雅黑" panose="020B0503020204020204" charset="-122"/>
                <a:ea typeface="微软雅黑" panose="020B0503020204020204" charset="-122"/>
              </a:rPr>
              <a:t>Reuses existing backend logic rather than creating a separate service stack</a:t>
            </a:r>
            <a:endParaRPr lang="en-US" alt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200">
                <a:latin typeface="微软雅黑" panose="020B0503020204020204" charset="-122"/>
                <a:ea typeface="微软雅黑" panose="020B0503020204020204" charset="-122"/>
              </a:rPr>
              <a:t>Shows extensibility beyond conventional REST consumption</a:t>
            </a:r>
            <a:endParaRPr lang="en-US" altLang="zh-CN" sz="120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150" y="638175"/>
            <a:ext cx="4738688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altLang="zh-CN" sz="1780" b="1" dirty="0">
                <a:latin typeface="微软雅黑" panose="020B0503020204020204" charset="-122"/>
                <a:ea typeface="微软雅黑" panose="020B0503020204020204" charset="-122"/>
              </a:rPr>
              <a:t>Geographic Rent Explorer</a:t>
            </a:r>
            <a:endParaRPr lang="en-US" altLang="zh-CN" sz="178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195580" y="4791075"/>
            <a:ext cx="277685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7231380" y="4886325"/>
            <a:ext cx="1722120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722566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8" name="文本框 7"/>
          <p:cNvSpPr txBox="1"/>
          <p:nvPr/>
        </p:nvSpPr>
        <p:spPr>
          <a:xfrm>
            <a:off x="5905500" y="1417955"/>
            <a:ext cx="304800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600">
                <a:latin typeface="微软雅黑" charset="0"/>
                <a:ea typeface="微软雅黑" charset="0"/>
              </a:rPr>
              <a:t>Loads historical rent data by area and time period</a:t>
            </a:r>
            <a:endParaRPr lang="en-US" altLang="zh-CN" sz="1600">
              <a:latin typeface="微软雅黑" charset="0"/>
              <a:ea typeface="微软雅黑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 sz="1600">
              <a:latin typeface="微软雅黑" charset="0"/>
              <a:ea typeface="微软雅黑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600">
                <a:latin typeface="微软雅黑" charset="0"/>
                <a:ea typeface="微软雅黑" charset="0"/>
              </a:rPr>
              <a:t>Supports area selection and side-by-side  comparison</a:t>
            </a:r>
            <a:endParaRPr lang="en-US" altLang="zh-CN" sz="1600">
              <a:latin typeface="微软雅黑" charset="0"/>
              <a:ea typeface="微软雅黑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 sz="1600">
              <a:latin typeface="微软雅黑" charset="0"/>
              <a:ea typeface="微软雅黑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600">
                <a:latin typeface="微软雅黑" charset="0"/>
                <a:ea typeface="微软雅黑" charset="0"/>
              </a:rPr>
              <a:t>Improves interpretability for non-technical users</a:t>
            </a:r>
            <a:endParaRPr lang="en-US" altLang="zh-CN" sz="1600">
              <a:latin typeface="微软雅黑" charset="0"/>
              <a:ea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15" y="1024255"/>
            <a:ext cx="5706745" cy="30384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5738" y="485775"/>
            <a:ext cx="4738688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780" b="1" kern="0" spc="-36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Testing, Deployment, and Deliverables</a:t>
            </a:r>
            <a:endParaRPr lang="en-US" sz="178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186055" y="4805680"/>
            <a:ext cx="2768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6585585" y="4910455"/>
            <a:ext cx="236791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663765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8" name="Text 6"/>
          <p:cNvSpPr/>
          <p:nvPr>
            <p:custDataLst>
              <p:tags r:id="rId1"/>
            </p:custDataLst>
          </p:nvPr>
        </p:nvSpPr>
        <p:spPr>
          <a:xfrm>
            <a:off x="171450" y="1019175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A</a:t>
            </a:r>
            <a:endParaRPr lang="en-US" dirty="0"/>
          </a:p>
        </p:txBody>
      </p:sp>
      <p:sp>
        <p:nvSpPr>
          <p:cNvPr id="9" name="Text 7"/>
          <p:cNvSpPr/>
          <p:nvPr>
            <p:custDataLst>
              <p:tags r:id="rId2"/>
            </p:custDataLst>
          </p:nvPr>
        </p:nvSpPr>
        <p:spPr>
          <a:xfrm>
            <a:off x="3157538" y="1019175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B</a:t>
            </a:r>
            <a:endParaRPr lang="en-US" dirty="0"/>
          </a:p>
        </p:txBody>
      </p:sp>
      <p:sp>
        <p:nvSpPr>
          <p:cNvPr id="10" name="Text 8"/>
          <p:cNvSpPr/>
          <p:nvPr>
            <p:custDataLst>
              <p:tags r:id="rId3"/>
            </p:custDataLst>
          </p:nvPr>
        </p:nvSpPr>
        <p:spPr>
          <a:xfrm>
            <a:off x="6138863" y="1019175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C</a:t>
            </a:r>
            <a:endParaRPr lang="en-US" dirty="0"/>
          </a:p>
        </p:txBody>
      </p:sp>
      <p:sp>
        <p:nvSpPr>
          <p:cNvPr id="11" name="Text 9"/>
          <p:cNvSpPr/>
          <p:nvPr>
            <p:custDataLst>
              <p:tags r:id="rId4"/>
            </p:custDataLst>
          </p:nvPr>
        </p:nvSpPr>
        <p:spPr>
          <a:xfrm>
            <a:off x="866775" y="1171575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Testing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 10"/>
          <p:cNvSpPr/>
          <p:nvPr>
            <p:custDataLst>
              <p:tags r:id="rId5"/>
            </p:custDataLst>
          </p:nvPr>
        </p:nvSpPr>
        <p:spPr>
          <a:xfrm>
            <a:off x="3848100" y="1171575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Deployment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 11"/>
          <p:cNvSpPr/>
          <p:nvPr>
            <p:custDataLst>
              <p:tags r:id="rId6"/>
            </p:custDataLst>
          </p:nvPr>
        </p:nvSpPr>
        <p:spPr>
          <a:xfrm>
            <a:off x="6829425" y="1171575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Deliverables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 12"/>
          <p:cNvSpPr/>
          <p:nvPr>
            <p:custDataLst>
              <p:tags r:id="rId7"/>
            </p:custDataLst>
          </p:nvPr>
        </p:nvSpPr>
        <p:spPr>
          <a:xfrm>
            <a:off x="85725" y="1828483"/>
            <a:ext cx="2667000" cy="1104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Endpoint tests with pytest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Validation of success and error cases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Coverage of query parameters and edge cases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Verified expected status codes and responses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 13"/>
          <p:cNvSpPr/>
          <p:nvPr>
            <p:custDataLst>
              <p:tags r:id="rId8"/>
            </p:custDataLst>
          </p:nvPr>
        </p:nvSpPr>
        <p:spPr>
          <a:xfrm>
            <a:off x="6138863" y="1614488"/>
            <a:ext cx="2667000" cy="13763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Public GitHub repository with commit history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API documentation and technical report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Source code, database setup, and evidence of development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Presentation and submission-ready materials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 14"/>
          <p:cNvSpPr/>
          <p:nvPr>
            <p:custDataLst>
              <p:tags r:id="rId9"/>
            </p:custDataLst>
          </p:nvPr>
        </p:nvSpPr>
        <p:spPr>
          <a:xfrm>
            <a:off x="3157538" y="1614488"/>
            <a:ext cx="2662238" cy="1104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Deployed as a runnable web service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Interactive API documentation available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Submission version aligned with hosted demo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CI/CD used for deployment validation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190500" y="3333750"/>
            <a:ext cx="2085975" cy="1185863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rcRect/>
          <a:stretch>
            <a:fillRect/>
          </a:stretch>
        </p:blipFill>
        <p:spPr>
          <a:xfrm>
            <a:off x="3305175" y="2866708"/>
            <a:ext cx="2366963" cy="514350"/>
          </a:xfrm>
          <a:prstGeom prst="rect">
            <a:avLst/>
          </a:prstGeom>
        </p:spPr>
      </p:pic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>
            <a:off x="3243263" y="3529013"/>
            <a:ext cx="2547938" cy="885825"/>
          </a:xfrm>
          <a:prstGeom prst="rect">
            <a:avLst/>
          </a:prstGeom>
        </p:spPr>
      </p:pic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14"/>
          <a:srcRect/>
          <a:stretch>
            <a:fillRect/>
          </a:stretch>
        </p:blipFill>
        <p:spPr>
          <a:xfrm>
            <a:off x="6138863" y="2990850"/>
            <a:ext cx="1162050" cy="1133475"/>
          </a:xfrm>
          <a:prstGeom prst="rect">
            <a:avLst/>
          </a:prstGeom>
        </p:spPr>
      </p:pic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15"/>
          <a:srcRect/>
          <a:stretch>
            <a:fillRect/>
          </a:stretch>
        </p:blipFill>
        <p:spPr>
          <a:xfrm>
            <a:off x="7472363" y="2990850"/>
            <a:ext cx="1085850" cy="152876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6055" y="485775"/>
            <a:ext cx="728091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altLang="zh-CN" sz="1780" b="1" dirty="0">
                <a:latin typeface="微软雅黑" panose="020B0503020204020204" charset="-122"/>
                <a:ea typeface="微软雅黑" panose="020B0503020204020204" charset="-122"/>
              </a:rPr>
              <a:t>Version Control Practices and Commit History</a:t>
            </a:r>
            <a:endParaRPr lang="en-US" altLang="zh-CN" sz="178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186055" y="4805680"/>
            <a:ext cx="2768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6585585" y="4910455"/>
            <a:ext cx="236791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663765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22" name="文本框 21"/>
          <p:cNvSpPr txBox="1"/>
          <p:nvPr/>
        </p:nvSpPr>
        <p:spPr>
          <a:xfrm>
            <a:off x="190500" y="790575"/>
            <a:ext cx="8290560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Public GitHub repository used throughout development.</a:t>
            </a: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Incremental commits documented database setup, API implementation, testing, and deployment changes.</a:t>
            </a: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Commit history reflects staged development rather than one-time upload.</a:t>
            </a:r>
            <a:endParaRPr lang="en-US" altLang="zh-CN" sz="1600"/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130" y="1971675"/>
            <a:ext cx="2999740" cy="2729865"/>
          </a:xfrm>
          <a:prstGeom prst="rect">
            <a:avLst/>
          </a:prstGeom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550" y="1971675"/>
            <a:ext cx="3445510" cy="21736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6055" y="485775"/>
            <a:ext cx="728091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altLang="zh-CN" sz="1780" b="1" dirty="0">
                <a:latin typeface="微软雅黑" panose="020B0503020204020204" charset="-122"/>
                <a:ea typeface="微软雅黑" panose="020B0503020204020204" charset="-122"/>
              </a:rPr>
              <a:t>API Documentation Overview</a:t>
            </a:r>
            <a:endParaRPr lang="en-US" altLang="zh-CN" sz="178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186055" y="4805680"/>
            <a:ext cx="2768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6585585" y="4910455"/>
            <a:ext cx="236791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663765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22" name="文本框 21"/>
          <p:cNvSpPr txBox="1"/>
          <p:nvPr/>
        </p:nvSpPr>
        <p:spPr>
          <a:xfrm>
            <a:off x="190500" y="790575"/>
            <a:ext cx="829056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FastAPI auto-generated OpenAPI / Swagger documentation</a:t>
            </a: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documents routes, request models, responses, authentication flows</a:t>
            </a: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reduces drift between implementation and documentation</a:t>
            </a:r>
            <a:endParaRPr lang="en-US" altLang="zh-CN" sz="160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055" y="1662430"/>
            <a:ext cx="4166870" cy="304165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035" y="1662430"/>
            <a:ext cx="3901440" cy="304101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6055" y="485775"/>
            <a:ext cx="728091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altLang="zh-CN" sz="1780" b="1" dirty="0">
                <a:latin typeface="微软雅黑" panose="020B0503020204020204" charset="-122"/>
                <a:ea typeface="微软雅黑" panose="020B0503020204020204" charset="-122"/>
              </a:rPr>
              <a:t>Technical Report Highlights</a:t>
            </a:r>
            <a:endParaRPr lang="en-US" altLang="zh-CN" sz="178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186055" y="4805680"/>
            <a:ext cx="2768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6585585" y="4910455"/>
            <a:ext cx="236791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663765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22" name="文本框 21"/>
          <p:cNvSpPr txBox="1"/>
          <p:nvPr/>
        </p:nvSpPr>
        <p:spPr>
          <a:xfrm>
            <a:off x="1527810" y="1436370"/>
            <a:ext cx="5996305" cy="27997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Architecture: layered FastAPI design with routers, services, and database separation</a:t>
            </a: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Design choice: official datasets separated from user-managed editable records</a:t>
            </a: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Technology stack: FastAPI + SQLite chosen for portability, schema-first design, and coursework practicality</a:t>
            </a: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Lessons learned: testing improved not just correctness, but API contract clarity</a:t>
            </a:r>
            <a:endParaRPr lang="en-US" altLang="zh-CN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6055" y="485775"/>
            <a:ext cx="728091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altLang="zh-CN" sz="1780" b="1" dirty="0">
                <a:latin typeface="微软雅黑" panose="020B0503020204020204" charset="-122"/>
                <a:ea typeface="微软雅黑" panose="020B0503020204020204" charset="-122"/>
              </a:rPr>
              <a:t>Project Links</a:t>
            </a:r>
            <a:endParaRPr lang="en-US" altLang="zh-CN" sz="178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186055" y="4805680"/>
            <a:ext cx="2768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6585585" y="4910455"/>
            <a:ext cx="236791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663765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22" name="文本框 21"/>
          <p:cNvSpPr txBox="1"/>
          <p:nvPr/>
        </p:nvSpPr>
        <p:spPr>
          <a:xfrm>
            <a:off x="314325" y="1303655"/>
            <a:ext cx="7049135" cy="25533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GitHub Repository: https://github.com/SHIRUIZHAOIILLiil/housing-api </a:t>
            </a: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API Documentation PDF: https://github.com/SHIRUIZHAOIILLiil/housing-api/tree/main/docs/Housing-API.pdf</a:t>
            </a: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Technical Report PDF: </a:t>
            </a:r>
            <a:r>
              <a:rPr lang="en-US" altLang="zh-CN" sz="1600">
                <a:sym typeface="+mn-ea"/>
              </a:rPr>
              <a:t>https://github.com/SHIRUIZHAOIILLiil/housing-api/tree/main/docs/Housing-API-technical-report.pdf</a:t>
            </a: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Presentation Slides: </a:t>
            </a:r>
            <a:r>
              <a:rPr lang="en-US" altLang="zh-CN" sz="1600">
                <a:sym typeface="+mn-ea"/>
              </a:rPr>
              <a:t>https://github.com/SHIRUIZHAOIILLiil/housing-api/tree/main/docs/Housing-API.pptx</a:t>
            </a:r>
            <a:endParaRPr lang="zh-CN" altLang="en-US" sz="1600">
              <a:sym typeface="+mn-e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5738" y="485775"/>
            <a:ext cx="516255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780" b="1" kern="0" spc="-36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Reflection, GenAI Usage, and Future Work</a:t>
            </a:r>
            <a:endParaRPr lang="en-US" sz="178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186055" y="4805680"/>
            <a:ext cx="235204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7652385" y="4910455"/>
            <a:ext cx="130111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5238750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8" name="Text 6"/>
          <p:cNvSpPr/>
          <p:nvPr>
            <p:custDataLst>
              <p:tags r:id="rId1"/>
            </p:custDataLst>
          </p:nvPr>
        </p:nvSpPr>
        <p:spPr>
          <a:xfrm>
            <a:off x="171450" y="1019175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A</a:t>
            </a:r>
            <a:endParaRPr lang="en-US" dirty="0"/>
          </a:p>
        </p:txBody>
      </p:sp>
      <p:sp>
        <p:nvSpPr>
          <p:cNvPr id="9" name="Text 7"/>
          <p:cNvSpPr/>
          <p:nvPr>
            <p:custDataLst>
              <p:tags r:id="rId2"/>
            </p:custDataLst>
          </p:nvPr>
        </p:nvSpPr>
        <p:spPr>
          <a:xfrm>
            <a:off x="3157538" y="1019175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B</a:t>
            </a:r>
            <a:endParaRPr lang="en-US" dirty="0"/>
          </a:p>
        </p:txBody>
      </p:sp>
      <p:sp>
        <p:nvSpPr>
          <p:cNvPr id="10" name="Text 8"/>
          <p:cNvSpPr/>
          <p:nvPr>
            <p:custDataLst>
              <p:tags r:id="rId3"/>
            </p:custDataLst>
          </p:nvPr>
        </p:nvSpPr>
        <p:spPr>
          <a:xfrm>
            <a:off x="6138863" y="1019175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C</a:t>
            </a:r>
            <a:endParaRPr lang="en-US" dirty="0"/>
          </a:p>
        </p:txBody>
      </p:sp>
      <p:sp>
        <p:nvSpPr>
          <p:cNvPr id="11" name="Text 9"/>
          <p:cNvSpPr/>
          <p:nvPr>
            <p:custDataLst>
              <p:tags r:id="rId4"/>
            </p:custDataLst>
          </p:nvPr>
        </p:nvSpPr>
        <p:spPr>
          <a:xfrm>
            <a:off x="866775" y="1171575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 Reflection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 10"/>
          <p:cNvSpPr/>
          <p:nvPr>
            <p:custDataLst>
              <p:tags r:id="rId5"/>
            </p:custDataLst>
          </p:nvPr>
        </p:nvSpPr>
        <p:spPr>
          <a:xfrm>
            <a:off x="3848100" y="1171575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GenAI Usage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 11"/>
          <p:cNvSpPr/>
          <p:nvPr>
            <p:custDataLst>
              <p:tags r:id="rId6"/>
            </p:custDataLst>
          </p:nvPr>
        </p:nvSpPr>
        <p:spPr>
          <a:xfrm>
            <a:off x="6829425" y="1171575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Future Work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 12"/>
          <p:cNvSpPr/>
          <p:nvPr>
            <p:custDataLst>
              <p:tags r:id="rId7"/>
            </p:custDataLst>
          </p:nvPr>
        </p:nvSpPr>
        <p:spPr>
          <a:xfrm>
            <a:off x="85725" y="1728470"/>
            <a:ext cx="2914015" cy="1652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Learned practical REST API design and data modelling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Improved testing, debugging, and project structuring skills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Better understood how to turn raw datasets into usable services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 13"/>
          <p:cNvSpPr/>
          <p:nvPr>
            <p:custDataLst>
              <p:tags r:id="rId8"/>
            </p:custDataLst>
          </p:nvPr>
        </p:nvSpPr>
        <p:spPr>
          <a:xfrm>
            <a:off x="6138863" y="1614488"/>
            <a:ext cx="2814638" cy="16525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Add richer analytics and comparison endpoints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Introduce role-based authorization and stronger security controls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Move to cloud database and more production-ready deployment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 14"/>
          <p:cNvSpPr/>
          <p:nvPr>
            <p:custDataLst>
              <p:tags r:id="rId9"/>
            </p:custDataLst>
          </p:nvPr>
        </p:nvSpPr>
        <p:spPr>
          <a:xfrm>
            <a:off x="3157538" y="1728153"/>
            <a:ext cx="2628900" cy="16525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Used GenAI for planning, debugging, and refining design ideas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Outputs were reviewed, adapted, and validated before use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Usage was documented in the report with supporting evidence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128588" y="3581083"/>
            <a:ext cx="2681288" cy="638175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>
            <a:off x="3343275" y="3434080"/>
            <a:ext cx="2085975" cy="1266825"/>
          </a:xfrm>
          <a:prstGeom prst="rect">
            <a:avLst/>
          </a:prstGeom>
        </p:spPr>
      </p:pic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12"/>
          <a:srcRect/>
          <a:stretch>
            <a:fillRect/>
          </a:stretch>
        </p:blipFill>
        <p:spPr>
          <a:xfrm>
            <a:off x="6429375" y="3381375"/>
            <a:ext cx="2138363" cy="47148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6055" y="4805680"/>
            <a:ext cx="235204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7652385" y="4910455"/>
            <a:ext cx="130111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6548120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13" name="Text 11"/>
          <p:cNvSpPr/>
          <p:nvPr>
            <p:custDataLst>
              <p:tags r:id="rId1"/>
            </p:custDataLst>
          </p:nvPr>
        </p:nvSpPr>
        <p:spPr>
          <a:xfrm>
            <a:off x="6829425" y="1171575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803400" y="2279650"/>
            <a:ext cx="555180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That is the end. Thank you</a:t>
            </a:r>
            <a:endParaRPr lang="en-US" altLang="zh-CN" sz="320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2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3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4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5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6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7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8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9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10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11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12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13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14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15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16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17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18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19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20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21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22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23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24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25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26.xml><?xml version="1.0" encoding="utf-8"?>
<p:tagLst xmlns:p="http://schemas.openxmlformats.org/presentationml/2006/main">
  <p:tag name="KSO_WM_DIAGRAM_VIRTUALLY_FRAME" val="{&quot;height&quot;:186,&quot;left&quot;:6.75,&quot;top&quot;:80.25,&quot;width&quot;:711.3750393700788}"/>
</p:tagLst>
</file>

<file path=ppt/tags/tag27.xml><?xml version="1.0" encoding="utf-8"?>
<p:tagLst xmlns:p="http://schemas.openxmlformats.org/presentationml/2006/main">
  <p:tag name="KSO_WM_DIAGRAM_VIRTUALLY_FRAME" val="{&quot;height&quot;:186,&quot;left&quot;:6.75,&quot;top&quot;:80.25,&quot;width&quot;:711.3750393700788}"/>
</p:tagLst>
</file>

<file path=ppt/tags/tag28.xml><?xml version="1.0" encoding="utf-8"?>
<p:tagLst xmlns:p="http://schemas.openxmlformats.org/presentationml/2006/main">
  <p:tag name="KSO_WM_DIAGRAM_VIRTUALLY_FRAME" val="{&quot;height&quot;:186,&quot;left&quot;:6.75,&quot;top&quot;:80.25,&quot;width&quot;:711.3750393700788}"/>
</p:tagLst>
</file>

<file path=ppt/tags/tag29.xml><?xml version="1.0" encoding="utf-8"?>
<p:tagLst xmlns:p="http://schemas.openxmlformats.org/presentationml/2006/main">
  <p:tag name="KSO_WM_DIAGRAM_VIRTUALLY_FRAME" val="{&quot;height&quot;:186,&quot;left&quot;:6.75,&quot;top&quot;:80.25,&quot;width&quot;:711.3750393700788}"/>
</p:tagLst>
</file>

<file path=ppt/tags/tag30.xml><?xml version="1.0" encoding="utf-8"?>
<p:tagLst xmlns:p="http://schemas.openxmlformats.org/presentationml/2006/main">
  <p:tag name="KSO_WM_DIAGRAM_VIRTUALLY_FRAME" val="{&quot;height&quot;:186,&quot;left&quot;:6.75,&quot;top&quot;:80.25,&quot;width&quot;:711.3750393700788}"/>
</p:tagLst>
</file>

<file path=ppt/tags/tag31.xml><?xml version="1.0" encoding="utf-8"?>
<p:tagLst xmlns:p="http://schemas.openxmlformats.org/presentationml/2006/main">
  <p:tag name="KSO_WM_DIAGRAM_VIRTUALLY_FRAME" val="{&quot;height&quot;:186,&quot;left&quot;:6.75,&quot;top&quot;:80.25,&quot;width&quot;:711.3750393700788}"/>
</p:tagLst>
</file>

<file path=ppt/tags/tag32.xml><?xml version="1.0" encoding="utf-8"?>
<p:tagLst xmlns:p="http://schemas.openxmlformats.org/presentationml/2006/main">
  <p:tag name="KSO_WM_DIAGRAM_VIRTUALLY_FRAME" val="{&quot;height&quot;:186,&quot;left&quot;:6.75,&quot;top&quot;:80.25,&quot;width&quot;:711.3750393700788}"/>
</p:tagLst>
</file>

<file path=ppt/tags/tag33.xml><?xml version="1.0" encoding="utf-8"?>
<p:tagLst xmlns:p="http://schemas.openxmlformats.org/presentationml/2006/main">
  <p:tag name="KSO_WM_DIAGRAM_VIRTUALLY_FRAME" val="{&quot;height&quot;:186,&quot;left&quot;:6.75,&quot;top&quot;:80.25,&quot;width&quot;:711.3750393700788}"/>
</p:tagLst>
</file>

<file path=ppt/tags/tag34.xml><?xml version="1.0" encoding="utf-8"?>
<p:tagLst xmlns:p="http://schemas.openxmlformats.org/presentationml/2006/main">
  <p:tag name="KSO_WM_DIAGRAM_VIRTUALLY_FRAME" val="{&quot;height&quot;:186,&quot;left&quot;:6.75,&quot;top&quot;:80.25,&quot;width&quot;:711.3750393700788}"/>
</p:tagLst>
</file>

<file path=ppt/tags/tag35.xml><?xml version="1.0" encoding="utf-8"?>
<p:tagLst xmlns:p="http://schemas.openxmlformats.org/presentationml/2006/main">
  <p:tag name="KSO_WM_DIAGRAM_VIRTUALLY_FRAME" val="{&quot;height&quot;:177.00007874015745,&quot;left&quot;:6.75,&quot;top&quot;:80.25,&quot;width&quot;:711.3750393700788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5757</Words>
  <Application>WPS 文字</Application>
  <PresentationFormat>On-screen Show (16:9)</PresentationFormat>
  <Paragraphs>263</Paragraphs>
  <Slides>15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23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15</vt:i4>
      </vt:variant>
    </vt:vector>
  </HeadingPairs>
  <TitlesOfParts>
    <vt:vector size="40" baseType="lpstr">
      <vt:lpstr>Arial</vt:lpstr>
      <vt:lpstr>宋体</vt:lpstr>
      <vt:lpstr>Wingdings</vt:lpstr>
      <vt:lpstr>微软雅黑</vt:lpstr>
      <vt:lpstr>汉仪旗黑</vt:lpstr>
      <vt:lpstr>Work Sans</vt:lpstr>
      <vt:lpstr>Work Sans</vt:lpstr>
      <vt:lpstr>Work Sans</vt:lpstr>
      <vt:lpstr>Cutive Mono</vt:lpstr>
      <vt:lpstr>Cutive Mono</vt:lpstr>
      <vt:lpstr>Cutive Mono</vt:lpstr>
      <vt:lpstr>苹方-简</vt:lpstr>
      <vt:lpstr>Wingdings</vt:lpstr>
      <vt:lpstr>Calibri</vt:lpstr>
      <vt:lpstr>Helvetica Neue</vt:lpstr>
      <vt:lpstr>宋体</vt:lpstr>
      <vt:lpstr>Arial Unicode MS</vt:lpstr>
      <vt:lpstr>等线</vt:lpstr>
      <vt:lpstr>汉仪中等线KW</vt:lpstr>
      <vt:lpstr>汉仪书宋二KW</vt:lpstr>
      <vt:lpstr>微软雅黑</vt:lpstr>
      <vt:lpstr>黑体</vt:lpstr>
      <vt:lpstr>汉仪中黑KW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昆</cp:lastModifiedBy>
  <cp:revision>14</cp:revision>
  <dcterms:created xsi:type="dcterms:W3CDTF">2026-03-19T13:03:43Z</dcterms:created>
  <dcterms:modified xsi:type="dcterms:W3CDTF">2026-03-19T13:03:43Z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2052-12.1.25205.25205</vt:lpwstr>
  </property>
  <property fmtid="{D5CDD505-2E9C-101B-9397-08002B2CF9AE}" pid="3" name="ICV">
    <vt:lpwstr>9B3A92CBE3F64EC4BC1C9B3D67DF5F58_12</vt:lpwstr>
  </property>
</Properties>
</file>