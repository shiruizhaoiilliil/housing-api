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8" r:id="rId10"/>
    <p:sldId id="269" r:id="rId11"/>
    <p:sldId id="261" r:id="rId12"/>
    <p:sldId id="264" r:id="rId13"/>
    <p:sldId id="265" r:id="rId14"/>
    <p:sldId id="266" r:id="rId15"/>
    <p:sldId id="267" r:id="rId16"/>
    <p:sldId id="262" r:id="rId17"/>
    <p:sldId id="263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0" Type="http://schemas.openxmlformats.org/officeDocument/2006/relationships/notesSlide" Target="../notesSlides/notesSlide5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8.png"/><Relationship Id="rId15" Type="http://schemas.openxmlformats.org/officeDocument/2006/relationships/tags" Target="../tags/tag13.xml"/><Relationship Id="rId14" Type="http://schemas.openxmlformats.org/officeDocument/2006/relationships/image" Target="../media/image7.png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7" Type="http://schemas.openxmlformats.org/officeDocument/2006/relationships/notesSlide" Target="../notesSlides/notesSlide8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8.png"/><Relationship Id="rId14" Type="http://schemas.openxmlformats.org/officeDocument/2006/relationships/image" Target="../media/image17.png"/><Relationship Id="rId13" Type="http://schemas.openxmlformats.org/officeDocument/2006/relationships/image" Target="../media/image16.png"/><Relationship Id="rId12" Type="http://schemas.openxmlformats.org/officeDocument/2006/relationships/image" Target="../media/image15.png"/><Relationship Id="rId11" Type="http://schemas.openxmlformats.org/officeDocument/2006/relationships/tags" Target="../tags/tag25.xml"/><Relationship Id="rId10" Type="http://schemas.openxmlformats.org/officeDocument/2006/relationships/image" Target="../media/image14.png"/><Relationship Id="rId1" Type="http://schemas.openxmlformats.org/officeDocument/2006/relationships/tags" Target="../tags/tag16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34.xml"/><Relationship Id="rId8" Type="http://schemas.openxmlformats.org/officeDocument/2006/relationships/tags" Target="../tags/tag33.xml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4" Type="http://schemas.openxmlformats.org/officeDocument/2006/relationships/notesSlide" Target="../notesSlides/notesSlide13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25.png"/><Relationship Id="rId11" Type="http://schemas.openxmlformats.org/officeDocument/2006/relationships/image" Target="../media/image24.png"/><Relationship Id="rId10" Type="http://schemas.openxmlformats.org/officeDocument/2006/relationships/image" Target="../media/image23.png"/><Relationship Id="rId1" Type="http://schemas.openxmlformats.org/officeDocument/2006/relationships/tags" Target="../tags/tag2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411798"/>
            <a:ext cx="5043488" cy="2400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algn="l" fontAlgn="auto">
              <a:lnSpc>
                <a:spcPct val="100000"/>
              </a:lnSpc>
              <a:buNone/>
            </a:pPr>
            <a:r>
              <a:rPr lang="en-US" sz="4990" kern="0" spc="-199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Housing Data API for UK Rental and Sales Analysis</a:t>
            </a:r>
            <a:endParaRPr lang="en-US" sz="499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190500" y="4781550"/>
            <a:ext cx="146367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4" name="Text 2"/>
          <p:cNvSpPr/>
          <p:nvPr/>
        </p:nvSpPr>
        <p:spPr>
          <a:xfrm>
            <a:off x="7831455" y="4886325"/>
            <a:ext cx="112204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5" name="Text 3"/>
          <p:cNvSpPr/>
          <p:nvPr/>
        </p:nvSpPr>
        <p:spPr>
          <a:xfrm>
            <a:off x="190500" y="142875"/>
            <a:ext cx="61042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6" name="Shape 4"/>
          <p:cNvSpPr/>
          <p:nvPr/>
        </p:nvSpPr>
        <p:spPr>
          <a:xfrm rot="5400000">
            <a:off x="6138863" y="1423988"/>
            <a:ext cx="2295525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10800000">
            <a:off x="5991225" y="1414463"/>
            <a:ext cx="2595563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89380">
            <a:off x="6060062" y="1421191"/>
            <a:ext cx="2450141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310621">
            <a:off x="6060062" y="1421191"/>
            <a:ext cx="2450141" cy="0"/>
          </a:xfrm>
          <a:prstGeom prst="line">
            <a:avLst/>
          </a:prstGeom>
          <a:noFill/>
          <a:ln w="18097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975" y="-6886575"/>
            <a:ext cx="0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5760" y="3001645"/>
            <a:ext cx="5685155" cy="8191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indent="0" algn="l" fontAlgn="auto">
              <a:lnSpc>
                <a:spcPct val="150000"/>
              </a:lnSpc>
              <a:buNone/>
            </a:pPr>
            <a:r>
              <a:rPr lang="en-US" altLang="zh-CN" sz="1570" b="1" dirty="0">
                <a:latin typeface="微软雅黑" panose="020B0503020204020204" charset="-122"/>
                <a:ea typeface="微软雅黑" panose="020B0503020204020204" charset="-122"/>
              </a:rPr>
              <a:t>A RESTful API for UK housing data with lookup, analytics, authentication, and testing support</a:t>
            </a:r>
            <a:endParaRPr lang="en-US" altLang="zh-CN" sz="157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00175" y="1738313"/>
            <a:ext cx="2038350" cy="220503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UK housing data is spread across multiple sources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Raw datasets are not easy to query directly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Users need a clean API for lookup, filtering, and trend analysis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 1"/>
          <p:cNvSpPr/>
          <p:nvPr/>
        </p:nvSpPr>
        <p:spPr>
          <a:xfrm>
            <a:off x="76200" y="685800"/>
            <a:ext cx="31003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Problem and Motivation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3" cy="565163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9" cy="53066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90500" y="4781550"/>
            <a:ext cx="14306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7" name="Text 3"/>
          <p:cNvSpPr/>
          <p:nvPr/>
        </p:nvSpPr>
        <p:spPr>
          <a:xfrm>
            <a:off x="7742555" y="4886325"/>
            <a:ext cx="121094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8" name="Text 4"/>
          <p:cNvSpPr/>
          <p:nvPr/>
        </p:nvSpPr>
        <p:spPr>
          <a:xfrm>
            <a:off x="190500" y="142875"/>
            <a:ext cx="887730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9" name="Text 5"/>
          <p:cNvSpPr/>
          <p:nvPr/>
        </p:nvSpPr>
        <p:spPr>
          <a:xfrm>
            <a:off x="5281613" y="1828800"/>
            <a:ext cx="2286000" cy="19288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Build a RESTful, data-driven API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Support both official data and user-managed records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b="1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Emphasise good API design, database integration, testing, and documentation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3" cy="565163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9" cy="5306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4791075"/>
            <a:ext cx="20726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5" name="Text 1"/>
          <p:cNvSpPr/>
          <p:nvPr/>
        </p:nvSpPr>
        <p:spPr>
          <a:xfrm>
            <a:off x="6860540" y="4886325"/>
            <a:ext cx="209296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6" name="Text 2"/>
          <p:cNvSpPr/>
          <p:nvPr/>
        </p:nvSpPr>
        <p:spPr>
          <a:xfrm>
            <a:off x="190500" y="142875"/>
            <a:ext cx="598424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038725" y="1281113"/>
            <a:ext cx="3319463" cy="24574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90500" y="552450"/>
            <a:ext cx="2747963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Data Sources and System Overview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 4"/>
          <p:cNvSpPr/>
          <p:nvPr/>
        </p:nvSpPr>
        <p:spPr>
          <a:xfrm>
            <a:off x="190500" y="1376363"/>
            <a:ext cx="4962525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data: areas, postcode mapping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Official datasets: rent statistics, sales transactions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 data: user-submitted rental/sales records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00063" y="3086100"/>
            <a:ext cx="3914775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Designed as a database-backed REST API with clear separation between data ingestion, service logic, and API routing.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444698" y="134137"/>
            <a:ext cx="565161" cy="565163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rcRect r="28097" b="28113"/>
          <a:stretch>
            <a:fillRect/>
          </a:stretch>
        </p:blipFill>
        <p:spPr>
          <a:xfrm>
            <a:off x="8358188" y="47625"/>
            <a:ext cx="530777" cy="53066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4791075"/>
            <a:ext cx="19767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5" name="Text 1"/>
          <p:cNvSpPr/>
          <p:nvPr/>
        </p:nvSpPr>
        <p:spPr>
          <a:xfrm>
            <a:off x="7336155" y="4886325"/>
            <a:ext cx="161734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6" name="Text 2"/>
          <p:cNvSpPr/>
          <p:nvPr/>
        </p:nvSpPr>
        <p:spPr>
          <a:xfrm>
            <a:off x="190500" y="142875"/>
            <a:ext cx="631888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2438" y="1209675"/>
            <a:ext cx="4210050" cy="349091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81000" y="600075"/>
            <a:ext cx="455168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</a:t>
            </a: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atabase And Architecture Design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24450" y="809625"/>
            <a:ext cx="3231859" cy="4076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150" y="6381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API Design Highlights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95580" y="4791075"/>
            <a:ext cx="27768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231380" y="4886325"/>
            <a:ext cx="1722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722566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>
            <p:custDataLst>
              <p:tags r:id="rId1"/>
            </p:custDataLst>
          </p:nvPr>
        </p:nvSpPr>
        <p:spPr>
          <a:xfrm>
            <a:off x="190500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3176588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6157913" y="1328738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85825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Geography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3867150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Official Statistics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848475" y="1481138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User Records &amp; Auth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190500" y="1985963"/>
            <a:ext cx="2781300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/AREAS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/AREAS/{AREA_CODE}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GET /POSTCODE_MAP/{POSTCODE}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rcRect/>
          <a:stretch>
            <a:fillRect/>
          </a:stretch>
        </p:blipFill>
        <p:spPr>
          <a:xfrm>
            <a:off x="190500" y="2814638"/>
            <a:ext cx="3057525" cy="1562100"/>
          </a:xfrm>
          <a:prstGeom prst="rect">
            <a:avLst/>
          </a:prstGeom>
        </p:spPr>
      </p:pic>
      <p:sp>
        <p:nvSpPr>
          <p:cNvPr id="16" name="Text 13"/>
          <p:cNvSpPr/>
          <p:nvPr>
            <p:custDataLst>
              <p:tags r:id="rId10"/>
            </p:custDataLst>
          </p:nvPr>
        </p:nvSpPr>
        <p:spPr>
          <a:xfrm>
            <a:off x="204788" y="4386263"/>
            <a:ext cx="2905125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Reference lookup for areas and postcode mapping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 14"/>
          <p:cNvSpPr/>
          <p:nvPr>
            <p:custDataLst>
              <p:tags r:id="rId11"/>
            </p:custDataLst>
          </p:nvPr>
        </p:nvSpPr>
        <p:spPr>
          <a:xfrm>
            <a:off x="6286500" y="1985963"/>
            <a:ext cx="2667000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POST /register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POST /login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Protected CRUD for user records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 15"/>
          <p:cNvSpPr/>
          <p:nvPr>
            <p:custDataLst>
              <p:tags r:id="rId12"/>
            </p:custDataLst>
          </p:nvPr>
        </p:nvSpPr>
        <p:spPr>
          <a:xfrm>
            <a:off x="6243638" y="4467225"/>
            <a:ext cx="2919413" cy="95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715"/>
              </a:lnSpc>
              <a:buNone/>
            </a:pPr>
            <a:r>
              <a:rPr lang="en-US" sz="855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Authenticated operations for user-managed data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Image 1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rcRect/>
          <a:stretch>
            <a:fillRect/>
          </a:stretch>
        </p:blipFill>
        <p:spPr>
          <a:xfrm>
            <a:off x="6557963" y="2909888"/>
            <a:ext cx="2124075" cy="1366838"/>
          </a:xfrm>
          <a:prstGeom prst="rect">
            <a:avLst/>
          </a:prstGeom>
        </p:spPr>
      </p:pic>
      <p:pic>
        <p:nvPicPr>
          <p:cNvPr id="20" name="Image 2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rcRect/>
          <a:stretch>
            <a:fillRect/>
          </a:stretch>
        </p:blipFill>
        <p:spPr>
          <a:xfrm>
            <a:off x="3052763" y="2814638"/>
            <a:ext cx="3190875" cy="1585913"/>
          </a:xfrm>
          <a:prstGeom prst="rect">
            <a:avLst/>
          </a:prstGeom>
        </p:spPr>
      </p:pic>
      <p:sp>
        <p:nvSpPr>
          <p:cNvPr id="21" name="Text 16"/>
          <p:cNvSpPr/>
          <p:nvPr>
            <p:custDataLst>
              <p:tags r:id="rId17"/>
            </p:custDataLst>
          </p:nvPr>
        </p:nvSpPr>
        <p:spPr>
          <a:xfrm>
            <a:off x="3086100" y="1985963"/>
            <a:ext cx="3214688" cy="8286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Rent statistics by area and period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Sales transaction queries and summaries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1140" kern="0" spc="-23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Read-oriented access to official datasets</a:t>
            </a:r>
            <a:endParaRPr lang="en-US" sz="114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 17"/>
          <p:cNvSpPr/>
          <p:nvPr>
            <p:custDataLst>
              <p:tags r:id="rId18"/>
            </p:custDataLst>
          </p:nvPr>
        </p:nvSpPr>
        <p:spPr>
          <a:xfrm>
            <a:off x="3057525" y="4629150"/>
            <a:ext cx="3943350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/rent_stats_official/areas/{area_code}/rent-trend.png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150" y="6381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Frontend Interface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95580" y="4791075"/>
            <a:ext cx="27768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231380" y="4886325"/>
            <a:ext cx="1722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722566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3" name="文本框 22"/>
          <p:cNvSpPr txBox="1"/>
          <p:nvPr/>
        </p:nvSpPr>
        <p:spPr>
          <a:xfrm>
            <a:off x="5434965" y="130429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Key Points</a:t>
            </a:r>
            <a:endParaRPr lang="en-US" altLang="zh-CN"/>
          </a:p>
        </p:txBody>
      </p:sp>
      <p:sp>
        <p:nvSpPr>
          <p:cNvPr id="24" name="文本框 23"/>
          <p:cNvSpPr txBox="1"/>
          <p:nvPr/>
        </p:nvSpPr>
        <p:spPr>
          <a:xfrm>
            <a:off x="5434965" y="1748155"/>
            <a:ext cx="3048000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Lightweight web interface built on top of the same FastAPI backend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Supports human-centred exploration beyond raw Swagger/API calls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400">
                <a:latin typeface="微软雅黑" panose="020B0503020204020204" charset="-122"/>
                <a:ea typeface="微软雅黑" panose="020B0503020204020204" charset="-122"/>
              </a:rPr>
              <a:t>Demonstrates selected workflows such as lookup, analytics, and user interaction</a:t>
            </a:r>
            <a:endParaRPr lang="en-US" altLang="zh-CN" sz="14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488950" y="4506595"/>
            <a:ext cx="47447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>
                <a:latin typeface="微软雅黑" panose="020B0503020204020204" charset="-122"/>
                <a:ea typeface="微软雅黑" panose="020B0503020204020204" charset="-122"/>
              </a:rPr>
              <a:t>Thin client layer: presentation logic separated from backend service logic</a:t>
            </a:r>
            <a:endParaRPr lang="en-US" altLang="zh-CN" sz="100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6" name="图片 25" descr="942513156d0b610a417d7a2212e1f08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950" y="1106170"/>
            <a:ext cx="4479925" cy="1926590"/>
          </a:xfrm>
          <a:prstGeom prst="rect">
            <a:avLst/>
          </a:prstGeom>
        </p:spPr>
      </p:pic>
      <p:pic>
        <p:nvPicPr>
          <p:cNvPr id="27" name="图片 26" descr="13f735646d665548d155a3e5d784096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50" y="2999105"/>
            <a:ext cx="4522470" cy="13836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150" y="6381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MCP Integration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95580" y="4791075"/>
            <a:ext cx="2776855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231380" y="4886325"/>
            <a:ext cx="1722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722566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pic>
        <p:nvPicPr>
          <p:cNvPr id="11" name="图片 10" descr="50ee772fe03165aea4188f736be50cb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6555" y="257810"/>
            <a:ext cx="2453640" cy="1965325"/>
          </a:xfrm>
          <a:prstGeom prst="rect">
            <a:avLst/>
          </a:prstGeom>
        </p:spPr>
      </p:pic>
      <p:pic>
        <p:nvPicPr>
          <p:cNvPr id="12" name="图片 11" descr="55933c359233b494388b47c8a94238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300" y="2223135"/>
            <a:ext cx="4775200" cy="266319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395" y="-107315"/>
            <a:ext cx="1156970" cy="245618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640715" y="1677035"/>
            <a:ext cx="304800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</a:rPr>
              <a:t>Exposes selected housing-data capabilities through a tool-oriented interface</a:t>
            </a: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</a:rPr>
              <a:t>Reuses existing backend logic rather than creating a separate service stack</a:t>
            </a: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</a:rPr>
              <a:t>Shows extensibility beyond conventional REST consumption</a:t>
            </a:r>
            <a:endParaRPr lang="en-US" alt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5738" y="485775"/>
            <a:ext cx="4738688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Testing, Deployment, and Deliverables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>
            <p:custDataLst>
              <p:tags r:id="rId1"/>
            </p:custDataLst>
          </p:nvPr>
        </p:nvSpPr>
        <p:spPr>
          <a:xfrm>
            <a:off x="171450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3157538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6138863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6677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Testing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3848100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Deployment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Deliverables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85725" y="1828483"/>
            <a:ext cx="2667000" cy="1104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Endpoint tests with pytest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Validation of success and error cases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Coverage of query parameters and edge cases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Verified expected status codes and responses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 13"/>
          <p:cNvSpPr/>
          <p:nvPr>
            <p:custDataLst>
              <p:tags r:id="rId8"/>
            </p:custDataLst>
          </p:nvPr>
        </p:nvSpPr>
        <p:spPr>
          <a:xfrm>
            <a:off x="6138863" y="1614488"/>
            <a:ext cx="2667000" cy="13763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Public GitHub repository with commit history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API documentation and technical report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Source code, database setup, and evidence of development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Presentation and submission-ready materials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3157538" y="1614488"/>
            <a:ext cx="2662238" cy="1104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Deployed as a runnable web service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Interactive API documentation available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Submission version aligned with hosted demo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CI/CD used for deployment validation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90500" y="3333750"/>
            <a:ext cx="2085975" cy="1185863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rcRect/>
          <a:stretch>
            <a:fillRect/>
          </a:stretch>
        </p:blipFill>
        <p:spPr>
          <a:xfrm>
            <a:off x="3305175" y="2866708"/>
            <a:ext cx="2366963" cy="514350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3243263" y="3529013"/>
            <a:ext cx="2547938" cy="885825"/>
          </a:xfrm>
          <a:prstGeom prst="rect">
            <a:avLst/>
          </a:prstGeom>
        </p:spPr>
      </p:pic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6138863" y="2990850"/>
            <a:ext cx="1162050" cy="1133475"/>
          </a:xfrm>
          <a:prstGeom prst="rect">
            <a:avLst/>
          </a:prstGeom>
        </p:spPr>
      </p:pic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7472363" y="2990850"/>
            <a:ext cx="1085850" cy="15287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6055" y="485775"/>
            <a:ext cx="728091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Version Control Practices and Commit History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2" name="文本框 21"/>
          <p:cNvSpPr txBox="1"/>
          <p:nvPr/>
        </p:nvSpPr>
        <p:spPr>
          <a:xfrm>
            <a:off x="190500" y="790575"/>
            <a:ext cx="829056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Public GitHub repository used throughout development.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Incremental commits documented database setup, API implementation, testing, and deployment changes.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Commit history reflects staged development rather than one-time upload.</a:t>
            </a:r>
            <a:endParaRPr lang="en-US" altLang="zh-CN" sz="1600"/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70" y="1971675"/>
            <a:ext cx="2999740" cy="272986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780" y="1971675"/>
            <a:ext cx="3445510" cy="21736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6055" y="485775"/>
            <a:ext cx="728091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API Documentation Overview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2" name="文本框 21"/>
          <p:cNvSpPr txBox="1"/>
          <p:nvPr/>
        </p:nvSpPr>
        <p:spPr>
          <a:xfrm>
            <a:off x="190500" y="790575"/>
            <a:ext cx="82905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FastAPI auto-generated OpenAPI / Swagger documentation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documents routes, request models, responses, authentication flows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reduces drift between implementation and documentation</a:t>
            </a:r>
            <a:endParaRPr lang="en-US" altLang="zh-CN" sz="16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055" y="1662430"/>
            <a:ext cx="4166870" cy="30416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035" y="1662430"/>
            <a:ext cx="3901440" cy="30410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6055" y="485775"/>
            <a:ext cx="728091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Technical Report Highlights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2" name="文本框 21"/>
          <p:cNvSpPr txBox="1"/>
          <p:nvPr/>
        </p:nvSpPr>
        <p:spPr>
          <a:xfrm>
            <a:off x="1527810" y="1436370"/>
            <a:ext cx="5996305" cy="27997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Architecture: layered FastAPI design with routers, services, and database separation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Design choice: official datasets separated from user-managed editable records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Technology stack: FastAPI + SQLite chosen for portability, schema-first design, and coursework practicality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Lessons learned: testing improved not just correctness, but API contract clarity</a:t>
            </a:r>
            <a:endParaRPr lang="en-US" altLang="zh-CN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6055" y="485775"/>
            <a:ext cx="728091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altLang="zh-CN" sz="1780" b="1" dirty="0">
                <a:latin typeface="微软雅黑" panose="020B0503020204020204" charset="-122"/>
                <a:ea typeface="微软雅黑" panose="020B0503020204020204" charset="-122"/>
              </a:rPr>
              <a:t>Project Links</a:t>
            </a:r>
            <a:endParaRPr lang="en-US" altLang="zh-CN" sz="178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76860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6585585" y="4910455"/>
            <a:ext cx="23679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63765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22" name="文本框 21"/>
          <p:cNvSpPr txBox="1"/>
          <p:nvPr/>
        </p:nvSpPr>
        <p:spPr>
          <a:xfrm>
            <a:off x="314325" y="1303655"/>
            <a:ext cx="7049135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GitHub Repository: https://github.com/SHIRUIZHAOIILLiil/housing-api 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API Documentation PDF: https://github.com/SHIRUIZHAOIILLiil/housing-api/tree/main/docs/Housing-API.pdf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Technical Report PDF: </a:t>
            </a:r>
            <a:r>
              <a:rPr lang="en-US" altLang="zh-CN" sz="1600">
                <a:sym typeface="+mn-ea"/>
              </a:rPr>
              <a:t>https://github.com/SHIRUIZHAOIILLiil/housing-api/tree/main/docs/Housing-API-technical-report.pdf</a:t>
            </a: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 sz="1600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 sz="1600"/>
              <a:t>Presentation Slides: </a:t>
            </a:r>
            <a:r>
              <a:rPr lang="en-US" altLang="zh-CN" sz="1600">
                <a:sym typeface="+mn-ea"/>
              </a:rPr>
              <a:t>https://github.com/SHIRUIZHAOIILLiil/housing-api/tree/main/docs/Housing-API.pptx</a:t>
            </a:r>
            <a:endParaRPr lang="zh-CN" altLang="en-US" sz="1600"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5738" y="485775"/>
            <a:ext cx="516255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780" b="1" kern="0" spc="-36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Reflection, GenAI Usage, and Future Work</a:t>
            </a:r>
            <a:endParaRPr lang="en-US" sz="178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186055" y="4805680"/>
            <a:ext cx="23520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652385" y="4910455"/>
            <a:ext cx="13011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523875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8" name="Text 6"/>
          <p:cNvSpPr/>
          <p:nvPr>
            <p:custDataLst>
              <p:tags r:id="rId1"/>
            </p:custDataLst>
          </p:nvPr>
        </p:nvSpPr>
        <p:spPr>
          <a:xfrm>
            <a:off x="171450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A</a:t>
            </a:r>
            <a:endParaRPr lang="en-US" dirty="0"/>
          </a:p>
        </p:txBody>
      </p:sp>
      <p:sp>
        <p:nvSpPr>
          <p:cNvPr id="9" name="Text 7"/>
          <p:cNvSpPr/>
          <p:nvPr>
            <p:custDataLst>
              <p:tags r:id="rId2"/>
            </p:custDataLst>
          </p:nvPr>
        </p:nvSpPr>
        <p:spPr>
          <a:xfrm>
            <a:off x="3157538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B</a:t>
            </a:r>
            <a:endParaRPr lang="en-US" dirty="0"/>
          </a:p>
        </p:txBody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6138863" y="1019175"/>
            <a:ext cx="581025" cy="581025"/>
          </a:xfrm>
          <a:prstGeom prst="ellipse">
            <a:avLst/>
          </a:prstGeom>
          <a:solidFill>
            <a:srgbClr val="DCDBCE"/>
          </a:solidFill>
          <a:ln w="9049">
            <a:solidFill>
              <a:srgbClr val="00000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</a:t>
            </a:r>
            <a:endParaRPr lang="en-US" dirty="0"/>
          </a:p>
        </p:txBody>
      </p:sp>
      <p:sp>
        <p:nvSpPr>
          <p:cNvPr id="11" name="Text 9"/>
          <p:cNvSpPr/>
          <p:nvPr>
            <p:custDataLst>
              <p:tags r:id="rId4"/>
            </p:custDataLst>
          </p:nvPr>
        </p:nvSpPr>
        <p:spPr>
          <a:xfrm>
            <a:off x="86677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 Reflection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3848100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GenAI Usage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Future Work</a:t>
            </a: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 12"/>
          <p:cNvSpPr/>
          <p:nvPr>
            <p:custDataLst>
              <p:tags r:id="rId7"/>
            </p:custDataLst>
          </p:nvPr>
        </p:nvSpPr>
        <p:spPr>
          <a:xfrm>
            <a:off x="85725" y="1728470"/>
            <a:ext cx="2914015" cy="1652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Learned practical REST API design and data modelling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Improved testing, debugging, and project structuring skills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Better understood how to turn raw datasets into usable services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 13"/>
          <p:cNvSpPr/>
          <p:nvPr>
            <p:custDataLst>
              <p:tags r:id="rId8"/>
            </p:custDataLst>
          </p:nvPr>
        </p:nvSpPr>
        <p:spPr>
          <a:xfrm>
            <a:off x="6138863" y="1614488"/>
            <a:ext cx="2814638" cy="16525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Add richer analytics and comparison endpoints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Introduce role-based authorization and stronger security controls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Move to cloud database and more production-ready deployment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3157538" y="1728153"/>
            <a:ext cx="2628900" cy="16525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Used GenAI for planning, debugging, and refining design ideas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Outputs were reviewed, adapted, and validated before use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 algn="l">
              <a:lnSpc>
                <a:spcPts val="2060"/>
              </a:lnSpc>
              <a:buSzPct val="100000"/>
              <a:buChar char="•"/>
            </a:pPr>
            <a:r>
              <a:rPr lang="en-US" sz="855" kern="0" spc="-17" dirty="0">
                <a:solidFill>
                  <a:srgbClr val="000000">
                    <a:alpha val="99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Work Sans" pitchFamily="34" charset="-120"/>
              </a:rPr>
              <a:t>Usage was documented in the report with supporting evidence</a:t>
            </a:r>
            <a:endParaRPr lang="en-US" sz="85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28588" y="3581083"/>
            <a:ext cx="2681288" cy="63817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3343275" y="3434080"/>
            <a:ext cx="2085975" cy="126682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6429375" y="3381375"/>
            <a:ext cx="2138363" cy="4714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DB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531144" y="2540794"/>
            <a:ext cx="3043238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5400000">
            <a:off x="7872413" y="3300413"/>
            <a:ext cx="2543175" cy="0"/>
          </a:xfrm>
          <a:prstGeom prst="line">
            <a:avLst/>
          </a:prstGeom>
          <a:noFill/>
          <a:ln w="4524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6055" y="4805680"/>
            <a:ext cx="2352040" cy="304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280"/>
              </a:lnSpc>
              <a:buNone/>
            </a:pPr>
            <a:r>
              <a:rPr lang="en-US" sz="1425" kern="0" spc="-28" dirty="0">
                <a:solidFill>
                  <a:srgbClr val="000000">
                    <a:alpha val="99000"/>
                  </a:srgbClr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Shirui Zhao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7652385" y="4910455"/>
            <a:ext cx="1301115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2026-03-12</a:t>
            </a:r>
            <a:endParaRPr lang="en-US" sz="785" dirty="0"/>
          </a:p>
        </p:txBody>
      </p:sp>
      <p:sp>
        <p:nvSpPr>
          <p:cNvPr id="7" name="Text 5"/>
          <p:cNvSpPr/>
          <p:nvPr/>
        </p:nvSpPr>
        <p:spPr>
          <a:xfrm>
            <a:off x="190500" y="142875"/>
            <a:ext cx="6548120" cy="114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5"/>
              </a:lnSpc>
              <a:buNone/>
            </a:pPr>
            <a:r>
              <a:rPr lang="en-US" sz="785" kern="0" spc="78" dirty="0">
                <a:solidFill>
                  <a:srgbClr val="000000">
                    <a:alpha val="99000"/>
                  </a:srgbClr>
                </a:solidFill>
                <a:latin typeface="Cutive Mono" pitchFamily="34" charset="0"/>
                <a:ea typeface="Cutive Mono" pitchFamily="34" charset="-122"/>
                <a:cs typeface="Cutive Mono" pitchFamily="34" charset="-120"/>
              </a:rPr>
              <a:t>COMP3011 COURSEWORK 1 – INDIVIDUAL WEB SERVICES API DEVELOPMENT PROJECT</a:t>
            </a:r>
            <a:endParaRPr lang="en-US" sz="785" dirty="0"/>
          </a:p>
        </p:txBody>
      </p:sp>
      <p:sp>
        <p:nvSpPr>
          <p:cNvPr id="13" name="Text 11"/>
          <p:cNvSpPr/>
          <p:nvPr>
            <p:custDataLst>
              <p:tags r:id="rId1"/>
            </p:custDataLst>
          </p:nvPr>
        </p:nvSpPr>
        <p:spPr>
          <a:xfrm>
            <a:off x="6829425" y="1171575"/>
            <a:ext cx="2290763" cy="2762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060"/>
              </a:lnSpc>
              <a:buNone/>
            </a:pPr>
            <a:endParaRPr lang="en-US" sz="1425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283460" y="2279650"/>
            <a:ext cx="45770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That is the end. Thank you</a:t>
            </a:r>
            <a:endParaRPr lang="en-US" altLang="zh-CN" sz="32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2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3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4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5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6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7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8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9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0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1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2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3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4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5.xml><?xml version="1.0" encoding="utf-8"?>
<p:tagLst xmlns:p="http://schemas.openxmlformats.org/presentationml/2006/main">
  <p:tag name="KSO_WM_DIAGRAM_VIRTUALLY_FRAME" val="{&quot;height&quot;:281.62496062992125,&quot;left&quot;:15,&quot;top&quot;:104.62503937007872,&quot;width&quot;:706.5000787401575}"/>
</p:tagLst>
</file>

<file path=ppt/tags/tag16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17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18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19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0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1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2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3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4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5.xml><?xml version="1.0" encoding="utf-8"?>
<p:tagLst xmlns:p="http://schemas.openxmlformats.org/presentationml/2006/main">
  <p:tag name="KSO_WM_DIAGRAM_VIRTUALLY_FRAME" val="{&quot;height&quot;:185.97503937007872,&quot;left&quot;:6.75,&quot;top&quot;:80.25,&quot;width&quot;:711.3750393700788}"/>
</p:tagLst>
</file>

<file path=ppt/tags/tag26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27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28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29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0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1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2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3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4.xml><?xml version="1.0" encoding="utf-8"?>
<p:tagLst xmlns:p="http://schemas.openxmlformats.org/presentationml/2006/main">
  <p:tag name="KSO_WM_DIAGRAM_VIRTUALLY_FRAME" val="{&quot;height&quot;:186,&quot;left&quot;:6.75,&quot;top&quot;:80.25,&quot;width&quot;:711.3750393700788}"/>
</p:tagLst>
</file>

<file path=ppt/tags/tag35.xml><?xml version="1.0" encoding="utf-8"?>
<p:tagLst xmlns:p="http://schemas.openxmlformats.org/presentationml/2006/main">
  <p:tag name="KSO_WM_DIAGRAM_VIRTUALLY_FRAME" val="{&quot;height&quot;:177.00007874015745,&quot;left&quot;:6.75,&quot;top&quot;:80.25,&quot;width&quot;:711.375039370078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5490</Words>
  <Application>WPS 文字</Application>
  <PresentationFormat>On-screen Show (16:9)</PresentationFormat>
  <Paragraphs>249</Paragraphs>
  <Slides>14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37" baseType="lpstr">
      <vt:lpstr>Arial</vt:lpstr>
      <vt:lpstr>宋体</vt:lpstr>
      <vt:lpstr>Wingdings</vt:lpstr>
      <vt:lpstr>微软雅黑</vt:lpstr>
      <vt:lpstr>汉仪旗黑</vt:lpstr>
      <vt:lpstr>Work Sans</vt:lpstr>
      <vt:lpstr>Work Sans</vt:lpstr>
      <vt:lpstr>Work Sans</vt:lpstr>
      <vt:lpstr>Cutive Mono</vt:lpstr>
      <vt:lpstr>Cutive Mono</vt:lpstr>
      <vt:lpstr>Cutive Mono</vt:lpstr>
      <vt:lpstr>苹方-简</vt:lpstr>
      <vt:lpstr>Wingdings</vt:lpstr>
      <vt:lpstr>Calibri</vt:lpstr>
      <vt:lpstr>Helvetica Neue</vt:lpstr>
      <vt:lpstr>宋体</vt:lpstr>
      <vt:lpstr>Arial Unicode MS</vt:lpstr>
      <vt:lpstr>等线</vt:lpstr>
      <vt:lpstr>汉仪中等线KW</vt:lpstr>
      <vt:lpstr>汉仪书宋二KW</vt:lpstr>
      <vt:lpstr>微软雅黑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昆</cp:lastModifiedBy>
  <cp:revision>11</cp:revision>
  <dcterms:created xsi:type="dcterms:W3CDTF">2026-03-18T00:00:45Z</dcterms:created>
  <dcterms:modified xsi:type="dcterms:W3CDTF">2026-03-18T00:00:45Z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9B3A92CBE3F64EC4BC1C9B3D67DF5F58_12</vt:lpwstr>
  </property>
</Properties>
</file>